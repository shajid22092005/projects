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310" r:id="rId6"/>
    <p:sldId id="335" r:id="rId7"/>
    <p:sldId id="261" r:id="rId8"/>
    <p:sldId id="292" r:id="rId9"/>
    <p:sldId id="260" r:id="rId10"/>
    <p:sldId id="312" r:id="rId11"/>
    <p:sldId id="336" r:id="rId12"/>
    <p:sldId id="311" r:id="rId13"/>
    <p:sldId id="264" r:id="rId14"/>
    <p:sldId id="339" r:id="rId15"/>
    <p:sldId id="315" r:id="rId16"/>
    <p:sldId id="316" r:id="rId17"/>
    <p:sldId id="317" r:id="rId18"/>
    <p:sldId id="266" r:id="rId19"/>
    <p:sldId id="267" r:id="rId20"/>
    <p:sldId id="268" r:id="rId21"/>
    <p:sldId id="341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342" r:id="rId30"/>
    <p:sldId id="343" r:id="rId31"/>
    <p:sldId id="344" r:id="rId32"/>
    <p:sldId id="346" r:id="rId33"/>
    <p:sldId id="347" r:id="rId34"/>
    <p:sldId id="365" r:id="rId35"/>
    <p:sldId id="366" r:id="rId36"/>
    <p:sldId id="277" r:id="rId37"/>
    <p:sldId id="368" r:id="rId38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56" d="100"/>
          <a:sy n="56" d="100"/>
        </p:scale>
        <p:origin x="1180" y="36"/>
      </p:cViewPr>
      <p:guideLst>
        <p:guide orient="horz" pos="2160"/>
        <p:guide pos="2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etha 2002" userId="2933ebf25992ad69" providerId="LiveId" clId="{F63B5C2D-3DF1-4F06-AF01-E6D6DC1E185D}"/>
    <pc:docChg chg="addSld delSld">
      <pc:chgData name="swetha 2002" userId="2933ebf25992ad69" providerId="LiveId" clId="{F63B5C2D-3DF1-4F06-AF01-E6D6DC1E185D}" dt="2025-03-21T04:57:36.171" v="1" actId="47"/>
      <pc:docMkLst>
        <pc:docMk/>
      </pc:docMkLst>
      <pc:sldChg chg="new del">
        <pc:chgData name="swetha 2002" userId="2933ebf25992ad69" providerId="LiveId" clId="{F63B5C2D-3DF1-4F06-AF01-E6D6DC1E185D}" dt="2025-03-21T04:57:36.171" v="1" actId="47"/>
        <pc:sldMkLst>
          <pc:docMk/>
          <pc:sldMk cId="262695026" sldId="3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Title Slide"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Title 2050"/>
          <p:cNvSpPr>
            <a:spLocks noGrp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 algn="r">
              <a:buClrTx/>
              <a:buSzTx/>
              <a:buFontTx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t>Click to edit Master title style</a:t>
            </a:r>
          </a:p>
        </p:txBody>
      </p:sp>
      <p:sp>
        <p:nvSpPr>
          <p:cNvPr id="2052" name="Subtitle 2051"/>
          <p:cNvSpPr>
            <a:spLocks noGrp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r"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  <a:lvl2pPr marL="457200" lvl="1" indent="0" algn="ctr"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2pPr>
            <a:lvl3pPr marL="914400" lvl="2" indent="0" algn="ctr"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3pPr>
            <a:lvl4pPr marL="1371600" lvl="3" indent="0" algn="ctr"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4pPr>
            <a:lvl5pPr marL="1828800" lvl="4" indent="0" algn="ctr"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t>Click to edit Master subtitle style</a:t>
            </a:r>
          </a:p>
        </p:txBody>
      </p:sp>
      <p:sp>
        <p:nvSpPr>
          <p:cNvPr id="2053" name="Date Placeholder 2052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400"/>
            </a:lvl1pPr>
          </a:lstStyle>
          <a:p>
            <a:endParaRPr lang="zh-CN" altLang="en-US" dirty="0"/>
          </a:p>
        </p:txBody>
      </p:sp>
      <p:sp>
        <p:nvSpPr>
          <p:cNvPr id="2054" name="Footer Placeholder 2053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400"/>
            </a:lvl1pPr>
          </a:lstStyle>
          <a:p>
            <a:endParaRPr lang="zh-CN" altLang="en-US" dirty="0"/>
          </a:p>
        </p:txBody>
      </p:sp>
      <p:sp>
        <p:nvSpPr>
          <p:cNvPr id="2055" name="Slide Number Placeholder 2054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400"/>
            </a:lvl1pPr>
          </a:lstStyle>
          <a:p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2504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174750"/>
            <a:ext cx="4032504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5293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4762" y="0"/>
            <a:ext cx="9148762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Title 1026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8" name="Text Placeholder 1027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9" name="Date Placeholder 1028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en-US"/>
          </a:p>
        </p:txBody>
      </p:sp>
      <p:sp>
        <p:nvSpPr>
          <p:cNvPr id="1030" name="Footer Placeholder 1029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en-US"/>
          </a:p>
        </p:txBody>
      </p:sp>
      <p:sp>
        <p:nvSpPr>
          <p:cNvPr id="1031" name="Slide Number Placeholder 1030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4097"/>
          <p:cNvSpPr>
            <a:spLocks noGrp="1"/>
          </p:cNvSpPr>
          <p:nvPr>
            <p:ph type="ctrTitle"/>
          </p:nvPr>
        </p:nvSpPr>
        <p:spPr>
          <a:xfrm>
            <a:off x="2935288" y="2060575"/>
            <a:ext cx="4281487" cy="1419225"/>
          </a:xfrm>
        </p:spPr>
        <p:txBody>
          <a:bodyPr anchor="ctr" anchorCtr="0"/>
          <a:lstStyle/>
          <a:p>
            <a:pPr defTabSz="914400">
              <a:buSzTx/>
              <a:buFontTx/>
              <a:buNone/>
            </a:pPr>
            <a:r>
              <a:rPr lang="en-US" altLang="x-none" sz="6000" kern="1200" baseline="0" dirty="0">
                <a:latin typeface="Clarendon Blk BT" panose="02040905050505020204" charset="0"/>
                <a:ea typeface="SimSun" panose="02010600030101010101" pitchFamily="2" charset="-122"/>
              </a:rPr>
              <a:t>J</a:t>
            </a:r>
            <a:r>
              <a:rPr lang="zh-CN" altLang="en-US" sz="6000" kern="1200" baseline="0" dirty="0">
                <a:latin typeface="Clarendon Blk BT" panose="02040905050505020204" charset="0"/>
                <a:ea typeface="SimSun" panose="02010600030101010101" pitchFamily="2" charset="-122"/>
              </a:rPr>
              <a:t>Query</a:t>
            </a:r>
            <a:br>
              <a:rPr lang="zh-CN" altLang="en-US" sz="6000" kern="1200" baseline="0" dirty="0">
                <a:latin typeface="Clarendon Blk BT" panose="02040905050505020204" charset="0"/>
                <a:ea typeface="SimSun" panose="02010600030101010101" pitchFamily="2" charset="-122"/>
              </a:rPr>
            </a:br>
            <a:endParaRPr lang="zh-CN" altLang="en-US" sz="6000" kern="1200" baseline="0" dirty="0">
              <a:latin typeface="Clarendon Blk BT" panose="0204090505050502020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512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sz="3200">
                <a:latin typeface="Clarendon Blk BT" panose="02040905050505020204" charset="0"/>
              </a:rPr>
              <a:t>Introduction to jQuery</a:t>
            </a:r>
          </a:p>
        </p:txBody>
      </p:sp>
      <p:sp>
        <p:nvSpPr>
          <p:cNvPr id="5123" name="Text Placeholder 51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zh-CN" altLang="en-US" dirty="0"/>
          </a:p>
          <a:p>
            <a:r>
              <a:rPr lang="zh-CN" altLang="en-US" dirty="0">
                <a:latin typeface="Comic Sans MS" panose="030F0702030302020204" charset="0"/>
              </a:rPr>
              <a:t>jQuery is a lightweight, </a:t>
            </a:r>
          </a:p>
          <a:p>
            <a:r>
              <a:rPr lang="zh-CN" altLang="en-US" dirty="0">
                <a:latin typeface="Comic Sans MS" panose="030F0702030302020204" charset="0"/>
              </a:rPr>
              <a:t>write less, do more</a:t>
            </a:r>
          </a:p>
          <a:p>
            <a:r>
              <a:rPr lang="zh-CN" altLang="en-US" dirty="0">
                <a:latin typeface="Comic Sans MS" panose="030F0702030302020204" charset="0"/>
              </a:rPr>
              <a:t>JavaScript library.</a:t>
            </a:r>
          </a:p>
          <a:p>
            <a:r>
              <a:rPr lang="en-US" altLang="x-none" dirty="0">
                <a:latin typeface="Comic Sans MS" panose="030F0702030302020204" charset="0"/>
              </a:rPr>
              <a:t>FrameWork</a:t>
            </a:r>
            <a:endParaRPr lang="zh-CN" altLang="en-US" dirty="0">
              <a:latin typeface="Comic Sans MS" panose="030F07020303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6145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x-none" sz="3200" dirty="0">
                <a:latin typeface="Clarendon Blk BT" panose="02040905050505020204" charset="0"/>
              </a:rPr>
              <a:t>J</a:t>
            </a:r>
            <a:r>
              <a:rPr lang="zh-CN" altLang="en-US" sz="3200" dirty="0">
                <a:latin typeface="Clarendon Blk BT" panose="02040905050505020204" charset="0"/>
              </a:rPr>
              <a:t>Query Syntax</a:t>
            </a:r>
          </a:p>
        </p:txBody>
      </p:sp>
      <p:sp>
        <p:nvSpPr>
          <p:cNvPr id="6147" name="Text Placeholder 6146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553450" cy="4953000"/>
          </a:xfrm>
        </p:spPr>
        <p:txBody>
          <a:bodyPr/>
          <a:lstStyle/>
          <a:p>
            <a:endParaRPr sz="2800" dirty="0">
              <a:latin typeface="Comic Sans MS" panose="030F0702030302020204" charset="0"/>
            </a:endParaRPr>
          </a:p>
          <a:p>
            <a:r>
              <a:rPr sz="2800" dirty="0">
                <a:latin typeface="Comic Sans MS" panose="030F0702030302020204" charset="0"/>
              </a:rPr>
              <a:t>The jQuery syntax is tailor-made for selecting HTML elements and performing some action on the element(s).</a:t>
            </a:r>
          </a:p>
          <a:p>
            <a:pPr>
              <a:buNone/>
            </a:pPr>
            <a:endParaRPr sz="2800" dirty="0">
              <a:latin typeface="Comic Sans MS" panose="030F0702030302020204" charset="0"/>
            </a:endParaRPr>
          </a:p>
          <a:p>
            <a:r>
              <a:rPr sz="2800" dirty="0">
                <a:latin typeface="Comic Sans MS" panose="030F0702030302020204" charset="0"/>
              </a:rPr>
              <a:t>Basic syntax is: $(selector).action()</a:t>
            </a:r>
          </a:p>
          <a:p>
            <a:pPr lvl="1"/>
            <a:r>
              <a:rPr lang="en-US" sz="2450" dirty="0">
                <a:latin typeface="Comic Sans MS" panose="030F0702030302020204" charset="0"/>
              </a:rPr>
              <a:t>$--&gt;define/access </a:t>
            </a:r>
            <a:r>
              <a:rPr lang="en-US" sz="2450" dirty="0" err="1">
                <a:latin typeface="Comic Sans MS" panose="030F0702030302020204" charset="0"/>
              </a:rPr>
              <a:t>jquery</a:t>
            </a:r>
            <a:endParaRPr lang="en-US" sz="2450" dirty="0">
              <a:latin typeface="Comic Sans MS" panose="030F0702030302020204" charset="0"/>
            </a:endParaRPr>
          </a:p>
          <a:p>
            <a:pPr lvl="1"/>
            <a:r>
              <a:rPr lang="en-US" sz="2450" dirty="0">
                <a:latin typeface="Comic Sans MS" panose="030F0702030302020204" charset="0"/>
              </a:rPr>
              <a:t>selector---&gt;HTML element</a:t>
            </a:r>
          </a:p>
          <a:p>
            <a:pPr lvl="1"/>
            <a:r>
              <a:rPr lang="en-US" sz="2450" dirty="0">
                <a:latin typeface="Comic Sans MS" panose="030F0702030302020204" charset="0"/>
              </a:rPr>
              <a:t>action()--&gt;to be performed on the element.</a:t>
            </a:r>
            <a:endParaRPr sz="2450" dirty="0">
              <a:latin typeface="Comic Sans MS" panose="030F0702030302020204" charset="0"/>
            </a:endParaRPr>
          </a:p>
          <a:p>
            <a:endParaRPr sz="2800" dirty="0">
              <a:latin typeface="Comic Sans MS" panose="030F0702030302020204" charset="0"/>
            </a:endParaRPr>
          </a:p>
          <a:p>
            <a:pPr>
              <a:buNone/>
            </a:pPr>
            <a:endParaRPr sz="2800" dirty="0">
              <a:latin typeface="Comic Sans MS" panose="030F07020303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7169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x-none" sz="3200" dirty="0">
                <a:latin typeface="Clarendon Blk BT" panose="02040905050505020204" charset="0"/>
              </a:rPr>
              <a:t>Example</a:t>
            </a:r>
          </a:p>
        </p:txBody>
      </p:sp>
      <p:sp>
        <p:nvSpPr>
          <p:cNvPr id="7171" name="Text Placeholder 7170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613775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latin typeface="Comic Sans MS" panose="030F0702030302020204" charset="0"/>
              </a:rPr>
              <a:t>$(this).hide() - hides the current element.</a:t>
            </a:r>
          </a:p>
          <a:p>
            <a:pPr>
              <a:lnSpc>
                <a:spcPct val="90000"/>
              </a:lnSpc>
            </a:pPr>
            <a:endParaRPr lang="zh-CN" altLang="en-US" dirty="0">
              <a:latin typeface="Comic Sans MS" panose="030F0702030302020204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Comic Sans MS" panose="030F0702030302020204" charset="0"/>
              </a:rPr>
              <a:t>$("p").hide() - hides all &lt;p&gt; elements.</a:t>
            </a:r>
          </a:p>
          <a:p>
            <a:pPr>
              <a:lnSpc>
                <a:spcPct val="90000"/>
              </a:lnSpc>
            </a:pPr>
            <a:endParaRPr lang="zh-CN" altLang="en-US" dirty="0">
              <a:latin typeface="Comic Sans MS" panose="030F0702030302020204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Comic Sans MS" panose="030F0702030302020204" charset="0"/>
              </a:rPr>
              <a:t>$(".test").hide() </a:t>
            </a:r>
            <a:r>
              <a:rPr lang="en-US" altLang="x-none" dirty="0">
                <a:latin typeface="Comic Sans MS" panose="030F0702030302020204" charset="0"/>
              </a:rPr>
              <a:t> </a:t>
            </a:r>
            <a:r>
              <a:rPr lang="zh-CN" altLang="en-US" dirty="0">
                <a:latin typeface="Comic Sans MS" panose="030F0702030302020204" charset="0"/>
              </a:rPr>
              <a:t>- hides</a:t>
            </a:r>
            <a:r>
              <a:rPr lang="en-US" altLang="x-none" dirty="0">
                <a:latin typeface="Comic Sans MS" panose="030F0702030302020204" charset="0"/>
              </a:rPr>
              <a:t> </a:t>
            </a:r>
            <a:r>
              <a:rPr lang="zh-CN" altLang="en-US" dirty="0">
                <a:latin typeface="Comic Sans MS" panose="030F0702030302020204" charset="0"/>
              </a:rPr>
              <a:t>class="test".</a:t>
            </a:r>
          </a:p>
          <a:p>
            <a:pPr>
              <a:lnSpc>
                <a:spcPct val="90000"/>
              </a:lnSpc>
            </a:pPr>
            <a:endParaRPr lang="zh-CN" altLang="en-US" dirty="0">
              <a:latin typeface="Comic Sans MS" panose="030F0702030302020204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Comic Sans MS" panose="030F0702030302020204" charset="0"/>
              </a:rPr>
              <a:t>$("#test").hide() </a:t>
            </a:r>
            <a:r>
              <a:rPr lang="en-US" altLang="x-none" dirty="0">
                <a:latin typeface="Comic Sans MS" panose="030F0702030302020204" charset="0"/>
              </a:rPr>
              <a:t> </a:t>
            </a:r>
            <a:r>
              <a:rPr lang="zh-CN" altLang="en-US" dirty="0">
                <a:latin typeface="Comic Sans MS" panose="030F0702030302020204" charset="0"/>
              </a:rPr>
              <a:t>- hides</a:t>
            </a:r>
            <a:r>
              <a:rPr lang="en-US" altLang="x-none" dirty="0">
                <a:latin typeface="Comic Sans MS" panose="030F0702030302020204" charset="0"/>
              </a:rPr>
              <a:t> </a:t>
            </a:r>
            <a:r>
              <a:rPr lang="zh-CN" altLang="en-US" dirty="0">
                <a:latin typeface="Comic Sans MS" panose="030F0702030302020204" charset="0"/>
              </a:rPr>
              <a:t>id="test".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51790" y="0"/>
            <a:ext cx="8543290" cy="6857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>
                <a:latin typeface="Microsoft Himalaya" panose="01010100010101010101" charset="0"/>
                <a:cs typeface="Microsoft Himalaya" panose="01010100010101010101" charset="0"/>
              </a:rPr>
              <a:t>&lt;head&gt;</a:t>
            </a:r>
          </a:p>
          <a:p>
            <a:r>
              <a:rPr lang="en-US" sz="3200" b="1">
                <a:latin typeface="Microsoft Himalaya" panose="01010100010101010101" charset="0"/>
                <a:cs typeface="Microsoft Himalaya" panose="01010100010101010101" charset="0"/>
              </a:rPr>
              <a:t>&lt;script src="https://ajax.googleapis.com/ajax/libs/jquery/3.7.1/jquery.min.js"&gt;&lt;/script&gt;</a:t>
            </a:r>
          </a:p>
          <a:p>
            <a:r>
              <a:rPr lang="en-US" sz="3200" b="1">
                <a:latin typeface="Microsoft Himalaya" panose="01010100010101010101" charset="0"/>
                <a:cs typeface="Microsoft Himalaya" panose="01010100010101010101" charset="0"/>
              </a:rPr>
              <a:t>&lt;script&gt;</a:t>
            </a:r>
          </a:p>
          <a:p>
            <a:r>
              <a:rPr lang="en-US" sz="3200" b="1">
                <a:latin typeface="Microsoft Himalaya" panose="01010100010101010101" charset="0"/>
                <a:cs typeface="Microsoft Himalaya" panose="01010100010101010101" charset="0"/>
              </a:rPr>
              <a:t>$(document).ready(function(){</a:t>
            </a:r>
          </a:p>
          <a:p>
            <a:r>
              <a:rPr lang="en-US" sz="3200" b="1">
                <a:latin typeface="Microsoft Himalaya" panose="01010100010101010101" charset="0"/>
                <a:cs typeface="Microsoft Himalaya" panose="01010100010101010101" charset="0"/>
              </a:rPr>
              <a:t>  $("p").click(function(){</a:t>
            </a:r>
          </a:p>
          <a:p>
            <a:r>
              <a:rPr lang="en-US" sz="3200" b="1">
                <a:latin typeface="Microsoft Himalaya" panose="01010100010101010101" charset="0"/>
                <a:cs typeface="Microsoft Himalaya" panose="01010100010101010101" charset="0"/>
              </a:rPr>
              <a:t>    $(this).hide();</a:t>
            </a:r>
          </a:p>
          <a:p>
            <a:r>
              <a:rPr lang="en-US" sz="3200" b="1">
                <a:latin typeface="Microsoft Himalaya" panose="01010100010101010101" charset="0"/>
                <a:cs typeface="Microsoft Himalaya" panose="01010100010101010101" charset="0"/>
              </a:rPr>
              <a:t>  });</a:t>
            </a:r>
          </a:p>
          <a:p>
            <a:r>
              <a:rPr lang="en-US" sz="3200" b="1">
                <a:latin typeface="Microsoft Himalaya" panose="01010100010101010101" charset="0"/>
                <a:cs typeface="Microsoft Himalaya" panose="01010100010101010101" charset="0"/>
              </a:rPr>
              <a:t>});</a:t>
            </a:r>
          </a:p>
          <a:p>
            <a:r>
              <a:rPr lang="en-US" sz="3200" b="1">
                <a:latin typeface="Microsoft Himalaya" panose="01010100010101010101" charset="0"/>
                <a:cs typeface="Microsoft Himalaya" panose="01010100010101010101" charset="0"/>
              </a:rPr>
              <a:t>&lt;/script&gt;</a:t>
            </a:r>
          </a:p>
          <a:p>
            <a:r>
              <a:rPr lang="en-US" sz="3200" b="1">
                <a:latin typeface="Microsoft Himalaya" panose="01010100010101010101" charset="0"/>
                <a:cs typeface="Microsoft Himalaya" panose="01010100010101010101" charset="0"/>
              </a:rPr>
              <a:t>&lt;/head&gt;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8953500" cy="5887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&lt;/body&gt;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&lt;p&gt;Hi i am going to hide&lt;/p&gt;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&lt;p&gt;I am going to hide in 2nd term&lt;/p&gt;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&lt;/body&gt;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&lt;/html&gt;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sz="3200">
                <a:latin typeface="Clarendon Blk BT" panose="02040905050505020204" charset="0"/>
              </a:rPr>
              <a:t>The Document Ready Event</a:t>
            </a:r>
          </a:p>
        </p:txBody>
      </p:sp>
      <p:sp>
        <p:nvSpPr>
          <p:cNvPr id="8195" name="Text Placeholder 819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dirty="0">
                <a:latin typeface="Comic Sans MS" panose="030F0702030302020204" charset="0"/>
              </a:rPr>
              <a:t>$(document).ready(function(){</a:t>
            </a:r>
          </a:p>
          <a:p>
            <a:endParaRPr dirty="0">
              <a:latin typeface="Comic Sans MS" panose="030F0702030302020204" charset="0"/>
            </a:endParaRPr>
          </a:p>
          <a:p>
            <a:pPr>
              <a:buNone/>
            </a:pPr>
            <a:r>
              <a:rPr dirty="0">
                <a:latin typeface="Comic Sans MS" panose="030F0702030302020204" charset="0"/>
              </a:rPr>
              <a:t> </a:t>
            </a:r>
            <a:r>
              <a:rPr lang="zh-CN" altLang="en-US" dirty="0">
                <a:latin typeface="Comic Sans MS" panose="030F0702030302020204" charset="0"/>
              </a:rPr>
              <a:t>$("p").hide()</a:t>
            </a:r>
            <a:endParaRPr lang="en-IN" altLang="zh-CN" dirty="0">
              <a:latin typeface="Comic Sans MS" panose="030F0702030302020204" charset="0"/>
            </a:endParaRPr>
          </a:p>
          <a:p>
            <a:pPr>
              <a:buNone/>
            </a:pPr>
            <a:endParaRPr dirty="0">
              <a:latin typeface="Comic Sans MS" panose="030F0702030302020204" charset="0"/>
            </a:endParaRPr>
          </a:p>
          <a:p>
            <a:pPr>
              <a:buNone/>
            </a:pPr>
            <a:r>
              <a:rPr dirty="0">
                <a:latin typeface="Comic Sans MS" panose="030F0702030302020204" charset="0"/>
              </a:rPr>
              <a:t>});</a:t>
            </a:r>
          </a:p>
          <a:p>
            <a:pPr>
              <a:buNone/>
            </a:pPr>
            <a:r>
              <a:rPr lang="en-US" dirty="0">
                <a:latin typeface="Comic Sans MS" panose="030F0702030302020204" charset="0"/>
              </a:rPr>
              <a:t>ready(function)--It is used to speify the function to run after the document loaded.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-635" y="0"/>
            <a:ext cx="9145270" cy="685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&lt;!DOCTYPE html&gt;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&lt;html&gt;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&lt;head&gt;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&lt;script src="https://ajax.googleapis.com/ajax/libs/jquery/3.7.1/jquery.min.js"&gt;&lt;/script&gt;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&lt;script&gt;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$(document).ready(function(){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  $("button").click(function(){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    $("p").hide();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  });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&lt;/script&gt;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&lt;/head&gt;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&lt;body&gt;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&lt;h2&gt;This is a heading&lt;/h2&gt;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&lt;p&gt;This is a paragraph.&lt;/p&gt;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&lt;p&gt;This is another paragraph.&lt;/p&gt;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&lt;button&gt;Click me to hide paragraphs&lt;/button&gt;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&lt;/body&gt;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&lt;/html&gt;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9217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sz="3200">
                <a:latin typeface="Clarendon Blk BT" panose="02040905050505020204" charset="0"/>
              </a:rPr>
              <a:t>jQuery hide() and show()</a:t>
            </a:r>
          </a:p>
        </p:txBody>
      </p:sp>
      <p:sp>
        <p:nvSpPr>
          <p:cNvPr id="9219" name="Text Placeholder 9218"/>
          <p:cNvSpPr>
            <a:spLocks noGrp="1"/>
          </p:cNvSpPr>
          <p:nvPr>
            <p:ph type="body" idx="1"/>
          </p:nvPr>
        </p:nvSpPr>
        <p:spPr>
          <a:xfrm>
            <a:off x="457200" y="775970"/>
            <a:ext cx="8687435" cy="5351780"/>
          </a:xfrm>
        </p:spPr>
        <p:txBody>
          <a:bodyPr/>
          <a:lstStyle/>
          <a:p>
            <a:pPr>
              <a:buNone/>
            </a:pPr>
            <a:r>
              <a:rPr lang="en-US" altLang="x-none" dirty="0">
                <a:latin typeface="Comic Sans MS" panose="030F0702030302020204" charset="0"/>
                <a:ea typeface="Yu Mincho" panose="02020400000000000000" charset="-128"/>
              </a:rPr>
              <a:t>Syntax:</a:t>
            </a:r>
          </a:p>
          <a:p>
            <a:endParaRPr lang="en-US" altLang="x-none" dirty="0">
              <a:latin typeface="Comic Sans MS" panose="030F0702030302020204" charset="0"/>
              <a:ea typeface="Yu Mincho" panose="02020400000000000000" charset="-128"/>
            </a:endParaRPr>
          </a:p>
          <a:p>
            <a:pPr>
              <a:buChar char="•"/>
            </a:pPr>
            <a:r>
              <a:rPr lang="en-US" altLang="x-none" dirty="0">
                <a:latin typeface="Comic Sans MS" panose="030F0702030302020204" charset="0"/>
                <a:ea typeface="Yu Mincho" panose="02020400000000000000" charset="-128"/>
              </a:rPr>
              <a:t>$(selector).hide(speed,callback);</a:t>
            </a:r>
          </a:p>
          <a:p>
            <a:pPr>
              <a:buChar char="•"/>
            </a:pPr>
            <a:endParaRPr lang="en-US" altLang="x-none" dirty="0">
              <a:latin typeface="Comic Sans MS" panose="030F0702030302020204" charset="0"/>
              <a:ea typeface="Yu Mincho" panose="02020400000000000000" charset="-128"/>
            </a:endParaRPr>
          </a:p>
          <a:p>
            <a:pPr>
              <a:buChar char="•"/>
            </a:pPr>
            <a:r>
              <a:rPr lang="en-US" altLang="x-none" dirty="0">
                <a:latin typeface="Comic Sans MS" panose="030F0702030302020204" charset="0"/>
                <a:ea typeface="Yu Mincho" panose="02020400000000000000" charset="-128"/>
              </a:rPr>
              <a:t>$(selector).show(speed,callback);</a:t>
            </a:r>
          </a:p>
          <a:p>
            <a:pPr marL="0" indent="0">
              <a:buNone/>
            </a:pPr>
            <a:endParaRPr lang="en-US" altLang="x-none" dirty="0">
              <a:latin typeface="Comic Sans MS" panose="030F0702030302020204" charset="0"/>
              <a:ea typeface="Yu Mincho" panose="02020400000000000000" charset="-128"/>
            </a:endParaRPr>
          </a:p>
          <a:p>
            <a:pPr marL="0" indent="0">
              <a:buNone/>
            </a:pPr>
            <a:r>
              <a:rPr lang="en-US" altLang="x-none" dirty="0">
                <a:latin typeface="Comic Sans MS" panose="030F0702030302020204" charset="0"/>
                <a:ea typeface="Yu Mincho" panose="02020400000000000000" charset="-128"/>
              </a:rPr>
              <a:t> speed of the hiding/showing : slow,fast,ms</a:t>
            </a:r>
          </a:p>
          <a:p>
            <a:pPr marL="0" indent="0">
              <a:buNone/>
            </a:pPr>
            <a:r>
              <a:rPr lang="en-US" altLang="x-none" dirty="0">
                <a:latin typeface="Comic Sans MS" panose="030F0702030302020204" charset="0"/>
                <a:ea typeface="Yu Mincho" panose="02020400000000000000" charset="-128"/>
              </a:rPr>
              <a:t>callback parameter is a function to be executed after the hide() or show()</a:t>
            </a:r>
          </a:p>
          <a:p>
            <a:endParaRPr lang="en-US" altLang="x-non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-102235" y="0"/>
            <a:ext cx="9144000" cy="685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&lt;head&gt;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&lt;script src="https://ajax.googleapis.com/ajax/libs/jquery/3.7.1/jquery.min.js"&gt;&lt;/script&gt;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&lt;script&gt;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$(document).ready(function(){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  $("#hide").click(function(){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    $("p").hide();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  });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  $("#show").click(function(){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    $("p").show();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  });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&lt;/script&gt;</a:t>
            </a: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&lt;/head&gt;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-635" y="93980"/>
            <a:ext cx="9144000" cy="6764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&lt;body&gt;</a:t>
            </a:r>
          </a:p>
          <a:p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&lt;p&gt;If you click on the "Hide" button, I will disappear.&lt;/p&gt;</a:t>
            </a:r>
          </a:p>
          <a:p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&lt;button id="hide"&gt;Hide&lt;/button&gt;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&lt;button id="show"&gt;Show&lt;/button&gt;</a:t>
            </a:r>
          </a:p>
          <a:p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&lt;/body&gt;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&lt;/html&gt;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 b="1" i="1" u="sng">
                <a:latin typeface="Times New Roman" panose="02020603050405020304" charset="0"/>
                <a:cs typeface="Times New Roman" panose="02020603050405020304" charset="0"/>
              </a:rPr>
              <a:t>The .class Selector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&lt;head&gt;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&lt;script src="https://ajax.googleapis.com/ajax/libs/jquery/3.7.1/jquery.min.js"&gt;&lt;/script&gt;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&lt;script&gt;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$(document).ready(function(){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$("button").click(function(){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  $(".test").hide();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});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&lt;/script&gt;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&lt;/head&gt;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larendon Blk BT" panose="02040905050505020204" charset="0"/>
                <a:cs typeface="Clarendon Blk BT" panose="02040905050505020204" charset="0"/>
              </a:rPr>
              <a:t>jQuery toggle()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>
                <a:latin typeface="Comic Sans MS" panose="030F0702030302020204" charset="0"/>
                <a:cs typeface="Comic Sans MS" panose="030F0702030302020204" charset="0"/>
              </a:rPr>
              <a:t>You can also toggle between hiding and showing an element with the toggle() method.</a:t>
            </a:r>
          </a:p>
          <a:p>
            <a:pPr marL="0" indent="0">
              <a:buNone/>
            </a:pPr>
            <a:endParaRPr lang="en-US" sz="3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3200">
                <a:latin typeface="Comic Sans MS" panose="030F0702030302020204" charset="0"/>
                <a:cs typeface="Comic Sans MS" panose="030F0702030302020204" charset="0"/>
              </a:rPr>
              <a:t>Syntax:</a:t>
            </a:r>
          </a:p>
          <a:p>
            <a:pPr marL="914400" lvl="2" indent="0">
              <a:buNone/>
            </a:pPr>
            <a:r>
              <a:rPr lang="en-US" sz="3200">
                <a:latin typeface="Comic Sans MS" panose="030F0702030302020204" charset="0"/>
                <a:cs typeface="Comic Sans MS" panose="030F0702030302020204" charset="0"/>
              </a:rPr>
              <a:t>$(selector).toggle(speed,callback);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635"/>
            <a:ext cx="9144635" cy="6856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&lt;html&gt;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&lt;head&gt;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&lt;script src="https://ajax.googleapis.com/ajax/libs/jquery/3.7.1/jquery.min.js"&gt;&lt;/script&gt;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&lt;script&gt;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$(document).ready(function(){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  $("button").click(function(){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    $("p").toggle(1000);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  });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&lt;/script&gt;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&lt;/head&gt;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&lt;body&gt;</a:t>
            </a:r>
          </a:p>
          <a:p>
            <a:endParaRPr lang="en-US" sz="20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&lt;p&gt;This is a paragraph.&lt;/p&gt;</a:t>
            </a:r>
          </a:p>
          <a:p>
            <a:endParaRPr lang="en-US" sz="20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&lt;button&gt;Toggle between hide() and show()&lt;/button&gt;</a:t>
            </a:r>
          </a:p>
          <a:p>
            <a:endParaRPr lang="en-US" sz="20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&lt;/body&gt;</a:t>
            </a:r>
          </a:p>
          <a:p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&lt;/html&gt;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87630" y="-982980"/>
            <a:ext cx="9056370" cy="9291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&lt;head&gt;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&lt;title&gt;The jQuery Example&lt;/title&gt;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&lt;script type = "text/javascript" 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   src = "https://www.tutorialspoint.com/jquery/jquery-3.6.0.js"&gt;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&lt;/script&gt;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		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&lt;script type = "text/javascript" language = "javascript"&gt;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   $(document).ready(function() {</a:t>
            </a:r>
          </a:p>
          <a:p>
            <a:endParaRPr lang="en-US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      $("#show").click(function () {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         $("h1").show( 1000);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      });</a:t>
            </a:r>
          </a:p>
          <a:p>
            <a:endParaRPr lang="en-US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      $("#hide").click(function () {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         $("h1").hide( 500 );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      });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   $("#toggle").click(function(){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      $("h1").toggle(500);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     });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				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   });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&lt;/script&gt;		 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&lt;/head&gt;</a:t>
            </a:r>
          </a:p>
          <a:p>
            <a:r>
              <a:rPr lang="en-US"/>
              <a:t>	</a:t>
            </a:r>
          </a:p>
          <a:p>
            <a:r>
              <a:rPr lang="en-US"/>
              <a:t>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286385"/>
            <a:ext cx="9144635" cy="6856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Comic Sans MS" panose="030F0702030302020204" charset="0"/>
                <a:cs typeface="Comic Sans MS" panose="030F0702030302020204" charset="0"/>
                <a:sym typeface="+mn-ea"/>
              </a:rPr>
              <a:t>&lt;body&gt;</a:t>
            </a:r>
            <a:endParaRPr lang="en-US" sz="2000"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Comic Sans MS" panose="030F0702030302020204" charset="0"/>
                <a:cs typeface="Comic Sans MS" panose="030F0702030302020204" charset="0"/>
                <a:sym typeface="+mn-ea"/>
              </a:rPr>
              <a:t>       &lt;h1&gt;Hai I AM GOING TO HIDE AND SHOW&lt;/h1&gt;</a:t>
            </a:r>
            <a:endParaRPr lang="en-US" sz="2000"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Comic Sans MS" panose="030F0702030302020204" charset="0"/>
                <a:cs typeface="Comic Sans MS" panose="030F0702030302020204" charset="0"/>
                <a:sym typeface="+mn-ea"/>
              </a:rPr>
              <a:t>      &lt;input id = "hide" type = "button" value = "Hide" /&gt;   </a:t>
            </a:r>
            <a:endParaRPr lang="en-US" sz="2000"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Comic Sans MS" panose="030F0702030302020204" charset="0"/>
                <a:cs typeface="Comic Sans MS" panose="030F0702030302020204" charset="0"/>
                <a:sym typeface="+mn-ea"/>
              </a:rPr>
              <a:t>      &lt;input id = "show" type = "button" value = "Show" /&gt;</a:t>
            </a:r>
            <a:endParaRPr lang="en-US" sz="2000"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Comic Sans MS" panose="030F0702030302020204" charset="0"/>
                <a:cs typeface="Comic Sans MS" panose="030F0702030302020204" charset="0"/>
                <a:sym typeface="+mn-ea"/>
              </a:rPr>
              <a:t>      &lt;input id = "toggle" type = "button" value = "Toggle" /&gt;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Comic Sans MS" panose="030F0702030302020204" charset="0"/>
                <a:cs typeface="Comic Sans MS" panose="030F0702030302020204" charset="0"/>
                <a:sym typeface="+mn-ea"/>
              </a:rPr>
              <a:t> &lt;/body&gt;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Comic Sans MS" panose="030F0702030302020204" charset="0"/>
                <a:cs typeface="Comic Sans MS" panose="030F0702030302020204" charset="0"/>
                <a:sym typeface="+mn-ea"/>
              </a:rPr>
              <a:t>&lt;/html&gt;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-88900"/>
            <a:ext cx="9144635" cy="6859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A callback function is executed after the current effect is finished.</a:t>
            </a:r>
          </a:p>
          <a:p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Typical syntax: $(selector).hide(speed,callback);</a:t>
            </a:r>
          </a:p>
          <a:p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&lt;head&gt;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&lt;script src="https://ajax.googleapis.com/ajax/libs/jquery/3.7.1/jquery.min.js"&gt;&lt;/script&gt;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&lt;script&gt;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$(document).ready(function(){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$("button").click(function(){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  $("p").hide("slow", function(){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    alert("The paragraph is now hidden");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  });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});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&lt;/script&gt;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&lt;/head&gt;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1016615" y="29641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larendon Blk BT" panose="02040905050505020204" charset="0"/>
                <a:cs typeface="Clarendon Blk BT" panose="02040905050505020204" charset="0"/>
              </a:rPr>
              <a:t>jQuery Fading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fade an element in and out of visibility.</a:t>
            </a:r>
          </a:p>
          <a:p>
            <a:pPr marL="0" indent="0">
              <a:buNone/>
            </a:pPr>
            <a:endParaRPr lang="en-US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fadeIn()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fadeOut()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fadeToggle()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fadeTo()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larendon Blk BT" panose="02040905050505020204" charset="0"/>
                <a:cs typeface="Clarendon Blk BT" panose="02040905050505020204" charset="0"/>
              </a:rPr>
              <a:t>jQuery fadeIn()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The jQuery fadeIn() method is used to fade in a hidden element.</a:t>
            </a:r>
          </a:p>
          <a:p>
            <a:endParaRPr lang="en-US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Syntax:</a:t>
            </a:r>
          </a:p>
          <a:p>
            <a:pPr marL="0" indent="0">
              <a:buNone/>
            </a:pPr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	$(selector).fadeIn(speed,callback);</a:t>
            </a:r>
          </a:p>
          <a:p>
            <a:pPr marL="0" indent="0">
              <a:buNone/>
            </a:pPr>
            <a:endParaRPr lang="en-US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  <a:sym typeface="+mn-ea"/>
              </a:rPr>
              <a:t>values: "slow", "fast", or milliseconds.</a:t>
            </a:r>
            <a:endParaRPr lang="en-US">
              <a:latin typeface="Comic Sans MS" panose="030F0702030302020204" charset="0"/>
              <a:cs typeface="Comic Sans MS" panose="030F0702030302020204" charset="0"/>
            </a:endParaRPr>
          </a:p>
          <a:p>
            <a:endParaRPr lang="en-US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larendon Blk BT" panose="02040905050505020204" charset="0"/>
                <a:cs typeface="Clarendon Blk BT" panose="02040905050505020204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040" y="629920"/>
            <a:ext cx="8845550" cy="6227445"/>
          </a:xfrm>
        </p:spPr>
        <p:txBody>
          <a:bodyPr/>
          <a:lstStyle/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&lt;head&gt;</a:t>
            </a: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&lt;script src="https://ajax.googleapis.com/ajax/libs/jquery/3.7.1/jquery.min.js"&gt;&lt;/script&gt;</a:t>
            </a: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&lt;script&gt;</a:t>
            </a: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$(document).ready(function(){</a:t>
            </a: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$("button").click(function(){</a:t>
            </a: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  $("#div1").fadeIn();</a:t>
            </a: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  $("#div2").fadeIn("slow");</a:t>
            </a: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  $("#div3").</a:t>
            </a:r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fadeIn(3</a:t>
            </a: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000);</a:t>
            </a: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});</a:t>
            </a: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&lt;/script&gt;</a:t>
            </a: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&lt;/head&gt;</a:t>
            </a:r>
          </a:p>
          <a:p>
            <a:pPr marL="0" indent="0">
              <a:buNone/>
            </a:pP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-1905"/>
            <a:ext cx="9144000" cy="6859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&lt;body&gt;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pPr marL="0" indent="0">
              <a:buNone/>
            </a:pP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&lt;p&gt;Demonstrate fadeIn() with different parameters.&lt;/p&gt;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pPr marL="0" indent="0">
              <a:buNone/>
            </a:pP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&lt;button&gt;Click to fade in boxes&lt;/button&gt;&lt;br&gt;&lt;br&gt;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pPr marL="0" indent="0">
              <a:buNone/>
            </a:pP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&lt;div id="div1" style="width:80px;height:80px;display:none;background-color:red;"&gt;&lt;/div&gt;&lt;br&gt;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&lt;div id="div2" style="width:80px;height:80px;display:none;background-color:green;"&gt;&lt;/div&gt;&lt;br&gt;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&lt;div id="div3" style="width:80px;height:80px;display:none;background-color:blue;"&gt;&lt;/div&gt;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pPr marL="0" indent="0">
              <a:buNone/>
            </a:pP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pPr marL="0" indent="0">
              <a:buNone/>
            </a:pPr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&lt;/body&gt;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larendon Blk BT" panose="02040905050505020204" charset="0"/>
                <a:cs typeface="Clarendon Blk BT" panose="02040905050505020204" charset="0"/>
              </a:rPr>
              <a:t>jQuery fadeOut()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The jQuery fadeOut() method is used to fade out a visible element.	</a:t>
            </a:r>
          </a:p>
          <a:p>
            <a:pPr marL="0" indent="0">
              <a:buNone/>
            </a:pPr>
            <a:endParaRPr lang="en-US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Syntax:</a:t>
            </a:r>
          </a:p>
          <a:p>
            <a:pPr marL="0" indent="0">
              <a:buNone/>
            </a:pPr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     $(selector).fadeOut(speed);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$("button").click(function(){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$("#div1").fadeOut();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$("#div2").fadeOut("slow");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$("#div3").fadeOut(3000);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larendon Blk BT" panose="02040905050505020204" charset="0"/>
                <a:cs typeface="Clarendon Blk BT" panose="02040905050505020204" charset="0"/>
              </a:rPr>
              <a:t>FadeToggle()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The jQuery fadeToggle() method toggles between the fadeIn() and fadeOut() methods.</a:t>
            </a:r>
          </a:p>
          <a:p>
            <a:pPr>
              <a:lnSpc>
                <a:spcPct val="120000"/>
              </a:lnSpc>
            </a:pPr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If the elements are faded out, fadeToggle() will fade them in.</a:t>
            </a:r>
          </a:p>
          <a:p>
            <a:pPr>
              <a:lnSpc>
                <a:spcPct val="120000"/>
              </a:lnSpc>
            </a:pPr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If the elements are faded in, fadeToggle() will fade them out.</a:t>
            </a:r>
          </a:p>
          <a:p>
            <a:pPr>
              <a:lnSpc>
                <a:spcPct val="120000"/>
              </a:lnSpc>
            </a:pPr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syntax:     $(selector).fadeToggle(speed,callback);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$("button").click(function(){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$("#div1").fadeToggle();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$("#div2").fadeToggle("slow");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$("#div3").fadeToggle(3000);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larendon Blk BT" panose="02040905050505020204" charset="0"/>
                <a:cs typeface="Clarendon Blk BT" panose="02040905050505020204" charset="0"/>
              </a:rPr>
              <a:t>jQuery fadeTo()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165" y="1174750"/>
            <a:ext cx="8776970" cy="4953000"/>
          </a:xfrm>
        </p:spPr>
        <p:txBody>
          <a:bodyPr/>
          <a:lstStyle/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The jQuery fadeTo() method allows fading to a given opacity (value between 0 and 1).</a:t>
            </a:r>
          </a:p>
          <a:p>
            <a:pPr marL="0" indent="0">
              <a:buNone/>
            </a:pPr>
            <a:endParaRPr lang="en-US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Syntax: $(selector).fadeTo(speed,opacity,callback);</a:t>
            </a:r>
          </a:p>
          <a:p>
            <a:endParaRPr lang="en-US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The required opacity parameter in the fadeTo() method specifies fading to a given opacity (value between 0 and 1).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$("button").click(function(){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$("#div1").fadeTo("slow", 0.15);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$("#div2").fadeTo("slow", 0.4);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$("#div3").fadeTo("slow", 0.7);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larendon Blk BT" panose="02040905050505020204" charset="0"/>
                <a:cs typeface="Clarendon Blk BT" panose="02040905050505020204" charset="0"/>
              </a:rPr>
              <a:t>jQuery Sliding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>
                <a:latin typeface="Comic Sans MS" panose="030F0702030302020204" charset="0"/>
                <a:ea typeface="Yu Mincho" panose="02020400000000000000" charset="-128"/>
                <a:cs typeface="Comic Sans MS" panose="030F0702030302020204" charset="0"/>
              </a:rPr>
              <a:t>create a sliding effect on elements.</a:t>
            </a:r>
          </a:p>
          <a:p>
            <a:pPr marL="0" indent="0">
              <a:buNone/>
            </a:pPr>
            <a:endParaRPr lang="en-US">
              <a:latin typeface="Comic Sans MS" panose="030F0702030302020204" charset="0"/>
              <a:ea typeface="Yu Mincho" panose="02020400000000000000" charset="-128"/>
              <a:cs typeface="Comic Sans MS" panose="030F0702030302020204" charset="0"/>
            </a:endParaRPr>
          </a:p>
          <a:p>
            <a:r>
              <a:rPr lang="en-US">
                <a:latin typeface="Comic Sans MS" panose="030F0702030302020204" charset="0"/>
                <a:ea typeface="Yu Mincho" panose="02020400000000000000" charset="-128"/>
                <a:cs typeface="Comic Sans MS" panose="030F0702030302020204" charset="0"/>
              </a:rPr>
              <a:t>slideDown()</a:t>
            </a:r>
          </a:p>
          <a:p>
            <a:r>
              <a:rPr lang="en-US">
                <a:latin typeface="Comic Sans MS" panose="030F0702030302020204" charset="0"/>
                <a:ea typeface="Yu Mincho" panose="02020400000000000000" charset="-128"/>
                <a:cs typeface="Comic Sans MS" panose="030F0702030302020204" charset="0"/>
              </a:rPr>
              <a:t>slideUp()</a:t>
            </a:r>
          </a:p>
          <a:p>
            <a:r>
              <a:rPr lang="en-US">
                <a:latin typeface="Comic Sans MS" panose="030F0702030302020204" charset="0"/>
                <a:ea typeface="Yu Mincho" panose="02020400000000000000" charset="-128"/>
                <a:cs typeface="Comic Sans MS" panose="030F0702030302020204" charset="0"/>
              </a:rPr>
              <a:t>slideToggle()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03505" y="171450"/>
            <a:ext cx="9041130" cy="6686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 u="sng">
                <a:latin typeface="Comic Sans MS" panose="030F0702030302020204" charset="0"/>
                <a:cs typeface="Comic Sans MS" panose="030F0702030302020204" charset="0"/>
              </a:rPr>
              <a:t>jQuery slideDown() Method</a:t>
            </a:r>
          </a:p>
          <a:p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The jQuery slideDown() method is used to slide down an element.</a:t>
            </a:r>
          </a:p>
          <a:p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Syntax:</a:t>
            </a:r>
          </a:p>
          <a:p>
            <a:pPr algn="ctr"/>
            <a:endParaRPr lang="en-US" sz="2800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$(selector).slideDown(speed,callback);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46685" y="635"/>
            <a:ext cx="8997950" cy="7075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&lt;head&gt;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&lt;script src="https://ajax.googleapis.com/ajax/libs/jquery/3.7.1/jquery.min.js"&gt;&lt;/script&gt;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&lt;script&gt; 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$(document).ready(function(){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$("#flip").click(function(){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  $("#panel").slideDown("slow");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});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&lt;/script&gt;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&lt;style&gt; 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#panel, #flip {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padding: 5px;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text-align: center;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background-color: #e5eecc;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border: solid 1px #c3c3c3;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}</a:t>
            </a:r>
          </a:p>
          <a:p>
            <a:endParaRPr lang="en-US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#panel {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padding: 50px;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  display: none;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}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&lt;/style&gt;</a:t>
            </a:r>
          </a:p>
          <a:p>
            <a:r>
              <a:rPr lang="en-US">
                <a:latin typeface="Comic Sans MS" panose="030F0702030302020204" charset="0"/>
                <a:cs typeface="Comic Sans MS" panose="030F0702030302020204" charset="0"/>
              </a:rPr>
              <a:t>&lt;/head&gt;</a:t>
            </a:r>
          </a:p>
          <a:p>
            <a:endParaRPr lang="en-US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09245" y="244475"/>
            <a:ext cx="8703310" cy="6457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&lt;body&gt;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 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&lt;div id="flip"&gt;Click to slide down panel&lt;/div&gt;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&lt;div id="panel"&gt;Hello world!&lt;/div&gt;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&lt;/body&gt;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03505" y="134620"/>
            <a:ext cx="9040495" cy="66192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en-US" sz="28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The jQuery slideUp() method is used to slide up an element.</a:t>
            </a:r>
          </a:p>
          <a:p>
            <a:endParaRPr lang="en-US" sz="2800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Syntax:</a:t>
            </a:r>
          </a:p>
          <a:p>
            <a:pPr algn="ctr"/>
            <a:endParaRPr lang="en-US" sz="2800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$(selector).slideUp(speed,callback);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635"/>
            <a:ext cx="9144635" cy="6856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u="sng">
                <a:latin typeface="Comic Sans MS" panose="030F0702030302020204" charset="0"/>
                <a:cs typeface="Comic Sans MS" panose="030F0702030302020204" charset="0"/>
              </a:rPr>
              <a:t>jQuery slideToggle() Method</a:t>
            </a:r>
          </a:p>
          <a:p>
            <a:endParaRPr lang="en-US" sz="2800" u="sng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 The jQuery slideToggle() method toggles between the slideDown() and slideUp() methods.</a:t>
            </a:r>
          </a:p>
          <a:p>
            <a:endParaRPr lang="en-US" sz="28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If the elements have been slid down, slideToggle() will slide them up.</a:t>
            </a:r>
          </a:p>
          <a:p>
            <a:endParaRPr lang="en-US" sz="28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If the elements have been slid up, slideToggle() will slide them down.</a:t>
            </a:r>
          </a:p>
          <a:p>
            <a:endParaRPr lang="en-US" sz="2800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sz="3200">
                <a:latin typeface="Comic Sans MS" panose="030F0702030302020204" charset="0"/>
                <a:cs typeface="Comic Sans MS" panose="030F0702030302020204" charset="0"/>
              </a:rPr>
              <a:t>$(selector).slideToggle(speed,callback)</a:t>
            </a:r>
            <a:r>
              <a:rPr lang="en-US" sz="2800">
                <a:latin typeface="Comic Sans MS" panose="030F0702030302020204" charset="0"/>
                <a:cs typeface="Comic Sans MS" panose="030F0702030302020204" charset="0"/>
              </a:rPr>
              <a:t>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8900" y="635"/>
            <a:ext cx="8966835" cy="6857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en-US" sz="2000">
              <a:latin typeface="Comic Sans MS" panose="030F0702030302020204" charset="0"/>
              <a:cs typeface="Comic Sans MS" panose="030F0702030302020204" charset="0"/>
            </a:endParaRPr>
          </a:p>
          <a:p>
            <a:endParaRPr lang="en-US" sz="20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&lt;head&gt;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&lt;script src="https://ajax.googleapis.com/ajax/libs/jquery/3.7.1/jquery.min.js"&gt;&lt;/script&gt;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&lt;script&gt; 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$(document).ready(function(){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$("#flip").click(function(){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  $("#panel").slideToggle("slow");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  });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</a:rPr>
              <a:t>&lt;/script&gt;</a:t>
            </a:r>
          </a:p>
          <a:p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1925" y="0"/>
            <a:ext cx="8982710" cy="6858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&lt;style&gt; 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#panel, #flip {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  padding: 5px;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  text-align: center;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  background-color: #e5eecc;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  border: solid 1px #c3c3c3;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}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#panel {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  padding: 50px;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  display: none;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}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&lt;/style&gt;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&lt;/head&gt;</a:t>
            </a:r>
            <a:endParaRPr lang="en-US" sz="2400">
              <a:sym typeface="+mn-ea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&lt;body&gt;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&lt;div id="flip"&gt;Click to slide the panel down or up&lt;/div&gt;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&lt;div id="panel"&gt;Hello world!&lt;/div&gt;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&lt;/body&gt;</a:t>
            </a:r>
            <a:endParaRPr lang="en-US" sz="2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sz="2400">
                <a:latin typeface="Comic Sans MS" panose="030F0702030302020204" charset="0"/>
                <a:cs typeface="Comic Sans MS" panose="030F0702030302020204" charset="0"/>
                <a:sym typeface="+mn-ea"/>
              </a:rPr>
              <a:t>&lt;/html&gt;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larendon Blk BT" panose="02040905050505020204" charset="0"/>
                <a:ea typeface="Yu Mincho" panose="02020400000000000000" charset="-128"/>
                <a:cs typeface="Clarendon Blk BT" panose="02040905050505020204" charset="0"/>
              </a:rPr>
              <a:t>jQuery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dirty="0">
                <a:latin typeface="Comic Sans MS" panose="030F0702030302020204" charset="0"/>
                <a:ea typeface="Yu Mincho" panose="02020400000000000000" charset="-128"/>
                <a:cs typeface="Comic Sans MS" panose="030F0702030302020204" charset="0"/>
              </a:rPr>
              <a:t>Syntax:</a:t>
            </a:r>
          </a:p>
          <a:p>
            <a:pPr marL="0" indent="0" algn="ctr">
              <a:buNone/>
            </a:pPr>
            <a:r>
              <a:rPr lang="en-US" sz="3600" dirty="0">
                <a:latin typeface="Comic Sans MS" panose="030F0702030302020204" charset="0"/>
                <a:ea typeface="Yu Mincho" panose="02020400000000000000" charset="-128"/>
                <a:cs typeface="Comic Sans MS" panose="030F0702030302020204" charset="0"/>
              </a:rPr>
              <a:t>	</a:t>
            </a:r>
          </a:p>
          <a:p>
            <a:pPr marL="0" indent="0" algn="ctr">
              <a:buNone/>
            </a:pPr>
            <a:r>
              <a:rPr lang="en-US" sz="3600" dirty="0">
                <a:latin typeface="Comic Sans MS" panose="030F0702030302020204" charset="0"/>
                <a:ea typeface="Yu Mincho" panose="02020400000000000000" charset="-128"/>
                <a:cs typeface="Comic Sans MS" panose="030F0702030302020204" charset="0"/>
              </a:rPr>
              <a:t>$(selector).animate({params},</a:t>
            </a:r>
            <a:r>
              <a:rPr lang="en-US" sz="3600" dirty="0" err="1">
                <a:latin typeface="Comic Sans MS" panose="030F0702030302020204" charset="0"/>
                <a:ea typeface="Yu Mincho" panose="02020400000000000000" charset="-128"/>
                <a:cs typeface="Comic Sans MS" panose="030F0702030302020204" charset="0"/>
              </a:rPr>
              <a:t>speed,</a:t>
            </a:r>
          </a:p>
          <a:p>
            <a:pPr marL="0" indent="0" algn="ctr">
              <a:buNone/>
            </a:pPr>
            <a:r>
              <a:rPr lang="en-US" sz="3600" dirty="0" err="1">
                <a:latin typeface="Comic Sans MS" panose="030F0702030302020204" charset="0"/>
                <a:ea typeface="Yu Mincho" panose="02020400000000000000" charset="-128"/>
                <a:cs typeface="Comic Sans MS" panose="030F0702030302020204" charset="0"/>
              </a:rPr>
              <a:t>callback</a:t>
            </a:r>
            <a:r>
              <a:rPr lang="en-US" sz="3600" dirty="0">
                <a:latin typeface="Comic Sans MS" panose="030F0702030302020204" charset="0"/>
                <a:ea typeface="Yu Mincho" panose="02020400000000000000" charset="-128"/>
                <a:cs typeface="Comic Sans MS" panose="030F0702030302020204" charset="0"/>
              </a:rPr>
              <a:t>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03505" y="0"/>
            <a:ext cx="9039860" cy="6798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&lt;!DOCTYPE html&gt;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&lt;html&gt;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&lt;head&gt;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&lt;script </a:t>
            </a:r>
            <a:r>
              <a:rPr lang="en-US" sz="2000" dirty="0" err="1">
                <a:latin typeface="Comic Sans MS" panose="030F0702030302020204" charset="0"/>
                <a:cs typeface="Comic Sans MS" panose="030F0702030302020204" charset="0"/>
              </a:rPr>
              <a:t>src</a:t>
            </a:r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="https://ajax.googleapis.com/ajax/libs/</a:t>
            </a:r>
            <a:r>
              <a:rPr lang="en-US" sz="2000" dirty="0" err="1">
                <a:latin typeface="Comic Sans MS" panose="030F0702030302020204" charset="0"/>
                <a:cs typeface="Comic Sans MS" panose="030F0702030302020204" charset="0"/>
              </a:rPr>
              <a:t>jquery</a:t>
            </a:r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/3.7.1/jquery.min.js"&gt;&lt;/script&gt;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&lt;script&gt; 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$(document).ready(function(){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  $("button").click(function(){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    $("div").animate({left: '250px'});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  });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});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&lt;/script&gt; 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&lt;/head&gt;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&lt;body&gt;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&lt;button&gt;Start Animation&lt;/button&gt;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&lt;p&gt;By default, all HTML elements have a static position, and cannot be moved. </a:t>
            </a:r>
            <a:r>
              <a:rPr lang="en-US" sz="2000">
                <a:latin typeface="Comic Sans MS" panose="030F0702030302020204" charset="0"/>
                <a:cs typeface="Comic Sans MS" panose="030F0702030302020204" charset="0"/>
              </a:rPr>
              <a:t>To manipulate the position, remember to first set the CSS position property of the element to relative, fixed, or absolute!&lt;/p&gt;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&lt;div style="background:#98bf21;height:100px;width:100px;position:absolute;"&gt;&lt;/div&gt;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&lt;/body&gt;</a:t>
            </a:r>
          </a:p>
          <a:p>
            <a:r>
              <a:rPr lang="en-US" sz="2000" dirty="0">
                <a:latin typeface="Comic Sans MS" panose="030F0702030302020204" charset="0"/>
                <a:cs typeface="Comic Sans MS" panose="030F0702030302020204" charset="0"/>
              </a:rPr>
              <a:t>&lt;/html&gt;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1265535" y="17907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7B7B7"/>
      </a:accent5>
      <a:accent6>
        <a:srgbClr val="868686"/>
      </a:accent6>
      <a:hlink>
        <a:srgbClr val="CC3300"/>
      </a:hlink>
      <a:folHlink>
        <a:srgbClr val="996600"/>
      </a:folHlink>
    </a:clrScheme>
    <a:fontScheme name="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7B7B7"/>
        </a:accent5>
        <a:accent6>
          <a:srgbClr val="86868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2339</Words>
  <Application>Microsoft Office PowerPoint</Application>
  <PresentationFormat>On-screen Show (4:3)</PresentationFormat>
  <Paragraphs>366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Clarendon Blk BT</vt:lpstr>
      <vt:lpstr>Comic Sans MS</vt:lpstr>
      <vt:lpstr>Microsoft Himalaya</vt:lpstr>
      <vt:lpstr>Times New Roman</vt:lpstr>
      <vt:lpstr>Gear Drives</vt:lpstr>
      <vt:lpstr>JQuery </vt:lpstr>
      <vt:lpstr>Introduction to jQuery</vt:lpstr>
      <vt:lpstr>JQuery Syntax</vt:lpstr>
      <vt:lpstr>Example</vt:lpstr>
      <vt:lpstr>PowerPoint Presentation</vt:lpstr>
      <vt:lpstr>PowerPoint Presentation</vt:lpstr>
      <vt:lpstr>The Document Ready Event</vt:lpstr>
      <vt:lpstr>PowerPoint Presentation</vt:lpstr>
      <vt:lpstr>jQuery hide() and show()</vt:lpstr>
      <vt:lpstr>PowerPoint Presentation</vt:lpstr>
      <vt:lpstr>PowerPoint Presentation</vt:lpstr>
      <vt:lpstr>PowerPoint Presentation</vt:lpstr>
      <vt:lpstr>jQuery toggle()</vt:lpstr>
      <vt:lpstr>PowerPoint Presentation</vt:lpstr>
      <vt:lpstr>PowerPoint Presentation</vt:lpstr>
      <vt:lpstr>PowerPoint Presentation</vt:lpstr>
      <vt:lpstr>PowerPoint Presentation</vt:lpstr>
      <vt:lpstr>jQuery Fading Methods</vt:lpstr>
      <vt:lpstr>jQuery fadeIn() Method</vt:lpstr>
      <vt:lpstr>Example</vt:lpstr>
      <vt:lpstr>PowerPoint Presentation</vt:lpstr>
      <vt:lpstr>jQuery fadeOut() Method</vt:lpstr>
      <vt:lpstr>PowerPoint Presentation</vt:lpstr>
      <vt:lpstr>FadeToggle() Method</vt:lpstr>
      <vt:lpstr>PowerPoint Presentation</vt:lpstr>
      <vt:lpstr>jQuery fadeTo() Method</vt:lpstr>
      <vt:lpstr>PowerPoint Presentation</vt:lpstr>
      <vt:lpstr>jQuery Sliding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jQuery Animations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 </dc:title>
  <dc:creator>RDP-4</dc:creator>
  <cp:lastModifiedBy>swetha 2002</cp:lastModifiedBy>
  <cp:revision>34</cp:revision>
  <dcterms:created xsi:type="dcterms:W3CDTF">2013-11-15T06:11:00Z</dcterms:created>
  <dcterms:modified xsi:type="dcterms:W3CDTF">2025-03-21T04:59:03Z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1033-12.2.0.17119</vt:lpwstr>
  </property>
  <property fmtid="{D5CDD505-2E9C-101B-9397-08002B2CF9AE}" pid="3" name="ICV">
    <vt:lpwstr>731E38BA200747FA9F2FE43DDEE28066_13</vt:lpwstr>
  </property>
</Properties>
</file>